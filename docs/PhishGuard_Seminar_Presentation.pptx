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822960"/>
            <a:ext cx="9997135" cy="5212080"/>
          </a:xfrm>
          <a:prstGeom prst="round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463040" y="1097280"/>
            <a:ext cx="9265615" cy="2011680"/>
          </a:xfrm>
          <a:prstGeom prst="rect">
            <a:avLst/>
          </a:prstGeom>
          <a:noFill/>
        </p:spPr>
        <p:txBody>
          <a:bodyPr wrap="square">
            <a:spAutoFit/>
          </a:bodyPr>
          <a:lstStyle/>
          <a:p>
            <a:pPr algn="ctr">
              <a:defRPr sz="1300" b="1">
                <a:solidFill>
                  <a:srgbClr val="38BDF8"/>
                </a:solidFill>
              </a:defRPr>
            </a:pPr>
            <a:r>
              <a:t>TECHNICAL CLUB SEMINAR PRESENTATION</a:t>
            </a:r>
          </a:p>
          <a:p>
            <a:pPr algn="ctr">
              <a:defRPr sz="2800" b="1">
                <a:solidFill>
                  <a:srgbClr val="FFFFFF"/>
                </a:solidFill>
              </a:defRPr>
            </a:pPr>
            <a:r>
              <a:t>Phishing Detection Tool:</a:t>
            </a:r>
            <a:br/>
            <a:r>
              <a:t>Identifying and Preventing Fake Email</a:t>
            </a:r>
          </a:p>
          <a:p>
            <a:pPr algn="ctr">
              <a:defRPr sz="1400">
                <a:solidFill>
                  <a:srgbClr val="94A3B8"/>
                </a:solidFill>
              </a:defRPr>
            </a:pPr>
            <a:r>
              <a:t>A Rule-Based Threat Assessment Engine in C Programming</a:t>
            </a:r>
          </a:p>
        </p:txBody>
      </p:sp>
      <p:sp>
        <p:nvSpPr>
          <p:cNvPr id="5" name="Rounded Rectangle 4"/>
          <p:cNvSpPr/>
          <p:nvPr/>
        </p:nvSpPr>
        <p:spPr>
          <a:xfrm>
            <a:off x="1463040" y="3474720"/>
            <a:ext cx="2926080" cy="9601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0" y="3474720"/>
            <a:ext cx="2926080" cy="960120"/>
          </a:xfrm>
          <a:prstGeom prst="rect">
            <a:avLst/>
          </a:prstGeom>
          <a:noFill/>
        </p:spPr>
        <p:txBody>
          <a:bodyPr wrap="square">
            <a:spAutoFit/>
          </a:bodyPr>
          <a:lstStyle/>
          <a:p>
            <a:pPr>
              <a:defRPr sz="950" b="1">
                <a:solidFill>
                  <a:srgbClr val="94A3B8"/>
                </a:solidFill>
              </a:defRPr>
            </a:pPr>
            <a:r>
              <a:t>TEAM NAME</a:t>
            </a:r>
          </a:p>
          <a:p>
            <a:pPr>
              <a:defRPr sz="1200" b="1">
                <a:solidFill>
                  <a:srgbClr val="38BDF8"/>
                </a:solidFill>
              </a:defRPr>
            </a:pPr>
            <a:r>
              <a:t>APEX CIPHER</a:t>
            </a:r>
          </a:p>
        </p:txBody>
      </p:sp>
      <p:sp>
        <p:nvSpPr>
          <p:cNvPr id="7" name="Rounded Rectangle 6"/>
          <p:cNvSpPr/>
          <p:nvPr/>
        </p:nvSpPr>
        <p:spPr>
          <a:xfrm>
            <a:off x="4572000" y="3474720"/>
            <a:ext cx="2926080" cy="9601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3474720"/>
            <a:ext cx="2926080" cy="960120"/>
          </a:xfrm>
          <a:prstGeom prst="rect">
            <a:avLst/>
          </a:prstGeom>
          <a:noFill/>
        </p:spPr>
        <p:txBody>
          <a:bodyPr wrap="square">
            <a:spAutoFit/>
          </a:bodyPr>
          <a:lstStyle/>
          <a:p>
            <a:pPr>
              <a:defRPr sz="950" b="1">
                <a:solidFill>
                  <a:srgbClr val="94A3B8"/>
                </a:solidFill>
              </a:defRPr>
            </a:pPr>
            <a:r>
              <a:t>DEPARTMENT</a:t>
            </a:r>
          </a:p>
          <a:p>
            <a:pPr>
              <a:defRPr sz="1200" b="1">
                <a:solidFill>
                  <a:srgbClr val="FFFFFF"/>
                </a:solidFill>
              </a:defRPr>
            </a:pPr>
            <a:r>
              <a:t>Computer Science &amp; Engg (CSE)</a:t>
            </a:r>
          </a:p>
        </p:txBody>
      </p:sp>
      <p:sp>
        <p:nvSpPr>
          <p:cNvPr id="9" name="Rounded Rectangle 8"/>
          <p:cNvSpPr/>
          <p:nvPr/>
        </p:nvSpPr>
        <p:spPr>
          <a:xfrm>
            <a:off x="7680960" y="3474720"/>
            <a:ext cx="2926080" cy="9601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0" y="3474720"/>
            <a:ext cx="2926080" cy="960120"/>
          </a:xfrm>
          <a:prstGeom prst="rect">
            <a:avLst/>
          </a:prstGeom>
          <a:noFill/>
        </p:spPr>
        <p:txBody>
          <a:bodyPr wrap="square">
            <a:spAutoFit/>
          </a:bodyPr>
          <a:lstStyle/>
          <a:p>
            <a:pPr>
              <a:defRPr sz="950" b="1">
                <a:solidFill>
                  <a:srgbClr val="94A3B8"/>
                </a:solidFill>
              </a:defRPr>
            </a:pPr>
            <a:r>
              <a:t>ACADEMIC YEAR</a:t>
            </a:r>
          </a:p>
          <a:p>
            <a:pPr>
              <a:defRPr sz="1200" b="1">
                <a:solidFill>
                  <a:srgbClr val="FFFFFF"/>
                </a:solidFill>
              </a:defRPr>
            </a:pPr>
            <a:r>
              <a:t>1st Year B.Tech (2026)</a:t>
            </a:r>
          </a:p>
        </p:txBody>
      </p:sp>
      <p:sp>
        <p:nvSpPr>
          <p:cNvPr id="11" name="Rounded Rectangle 10"/>
          <p:cNvSpPr/>
          <p:nvPr/>
        </p:nvSpPr>
        <p:spPr>
          <a:xfrm>
            <a:off x="1463040" y="4663440"/>
            <a:ext cx="2926080" cy="9601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63040" y="4663440"/>
            <a:ext cx="2926080" cy="960120"/>
          </a:xfrm>
          <a:prstGeom prst="rect">
            <a:avLst/>
          </a:prstGeom>
          <a:noFill/>
        </p:spPr>
        <p:txBody>
          <a:bodyPr wrap="square">
            <a:spAutoFit/>
          </a:bodyPr>
          <a:lstStyle/>
          <a:p>
            <a:pPr>
              <a:defRPr sz="950" b="1">
                <a:solidFill>
                  <a:srgbClr val="94A3B8"/>
                </a:solidFill>
              </a:defRPr>
            </a:pPr>
            <a:r>
              <a:t>TECHNICAL CLUB</a:t>
            </a:r>
          </a:p>
          <a:p>
            <a:pPr>
              <a:defRPr sz="1200" b="1">
                <a:solidFill>
                  <a:srgbClr val="38BDF8"/>
                </a:solidFill>
              </a:defRPr>
            </a:pPr>
            <a:r>
              <a:t>Cyber Security &amp; Coding Club</a:t>
            </a:r>
          </a:p>
        </p:txBody>
      </p:sp>
      <p:sp>
        <p:nvSpPr>
          <p:cNvPr id="13" name="Rounded Rectangle 12"/>
          <p:cNvSpPr/>
          <p:nvPr/>
        </p:nvSpPr>
        <p:spPr>
          <a:xfrm>
            <a:off x="4572000" y="4663440"/>
            <a:ext cx="2926080" cy="9601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4663440"/>
            <a:ext cx="2926080" cy="960120"/>
          </a:xfrm>
          <a:prstGeom prst="rect">
            <a:avLst/>
          </a:prstGeom>
          <a:noFill/>
        </p:spPr>
        <p:txBody>
          <a:bodyPr wrap="square">
            <a:spAutoFit/>
          </a:bodyPr>
          <a:lstStyle/>
          <a:p>
            <a:pPr>
              <a:defRPr sz="950" b="1">
                <a:solidFill>
                  <a:srgbClr val="94A3B8"/>
                </a:solidFill>
              </a:defRPr>
            </a:pPr>
            <a:r>
              <a:t>LANGUAGE USED</a:t>
            </a:r>
          </a:p>
          <a:p>
            <a:pPr>
              <a:defRPr sz="1200" b="1">
                <a:solidFill>
                  <a:srgbClr val="22C55E"/>
                </a:solidFill>
              </a:defRPr>
            </a:pPr>
            <a:r>
              <a:t>C Programming (Standard C99)</a:t>
            </a:r>
          </a:p>
        </p:txBody>
      </p:sp>
      <p:sp>
        <p:nvSpPr>
          <p:cNvPr id="15" name="Rounded Rectangle 14"/>
          <p:cNvSpPr/>
          <p:nvPr/>
        </p:nvSpPr>
        <p:spPr>
          <a:xfrm>
            <a:off x="7680960" y="4663440"/>
            <a:ext cx="2926080" cy="96012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0" y="4663440"/>
            <a:ext cx="2926080" cy="960120"/>
          </a:xfrm>
          <a:prstGeom prst="rect">
            <a:avLst/>
          </a:prstGeom>
          <a:noFill/>
        </p:spPr>
        <p:txBody>
          <a:bodyPr wrap="square">
            <a:spAutoFit/>
          </a:bodyPr>
          <a:lstStyle/>
          <a:p>
            <a:pPr>
              <a:defRPr sz="950" b="1">
                <a:solidFill>
                  <a:srgbClr val="94A3B8"/>
                </a:solidFill>
              </a:defRPr>
            </a:pPr>
            <a:r>
              <a:t>CORE FOCUS</a:t>
            </a:r>
          </a:p>
          <a:p>
            <a:pPr>
              <a:defRPr sz="1200" b="1">
                <a:solidFill>
                  <a:srgbClr val="FFFFFF"/>
                </a:solidFill>
              </a:defRPr>
            </a:pPr>
            <a:r>
              <a:t>Fake Email &amp; URL Detection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777240"/>
          </a:xfrm>
          <a:prstGeom prst="rect">
            <a:avLst/>
          </a:prstGeom>
          <a:noFill/>
        </p:spPr>
        <p:txBody>
          <a:bodyPr wrap="square">
            <a:spAutoFit/>
          </a:bodyPr>
          <a:lstStyle/>
          <a:p>
            <a:pPr>
              <a:defRPr sz="1000" b="1">
                <a:solidFill>
                  <a:srgbClr val="38BDF8"/>
                </a:solidFill>
              </a:defRPr>
            </a:pPr>
            <a:r>
              <a:t>CYBER SECURITY TECHNICAL CLUB SEMINAR</a:t>
            </a:r>
          </a:p>
          <a:p>
            <a:pPr>
              <a:defRPr sz="2000" b="1">
                <a:solidFill>
                  <a:srgbClr val="FFFFFF"/>
                </a:solidFill>
              </a:defRPr>
            </a:pPr>
            <a:r>
              <a:t>2. Abstract - Project Summary &amp; Outcome</a:t>
            </a:r>
          </a:p>
        </p:txBody>
      </p:sp>
      <p:sp>
        <p:nvSpPr>
          <p:cNvPr id="4" name="TextBox 3"/>
          <p:cNvSpPr txBox="1"/>
          <p:nvPr/>
        </p:nvSpPr>
        <p:spPr>
          <a:xfrm>
            <a:off x="731520" y="6446520"/>
            <a:ext cx="10698480" cy="320040"/>
          </a:xfrm>
          <a:prstGeom prst="rect">
            <a:avLst/>
          </a:prstGeom>
          <a:noFill/>
        </p:spPr>
        <p:txBody>
          <a:bodyPr wrap="none">
            <a:spAutoFit/>
          </a:bodyPr>
          <a:lstStyle/>
          <a:p>
            <a:pPr>
              <a:defRPr sz="950">
                <a:solidFill>
                  <a:srgbClr val="94A3B8"/>
                </a:solidFill>
              </a:defRPr>
            </a:pPr>
            <a:r>
              <a:t>PhishGuard: Fake Email Detection Tool  |  Team: APEX CIPHER  |  1st Year B.Tech CSE</a:t>
            </a:r>
          </a:p>
        </p:txBody>
      </p:sp>
      <p:sp>
        <p:nvSpPr>
          <p:cNvPr id="5" name="Rounded Rectangle 4"/>
          <p:cNvSpPr/>
          <p:nvPr/>
        </p:nvSpPr>
        <p:spPr>
          <a:xfrm>
            <a:off x="731520" y="1280160"/>
            <a:ext cx="5486400" cy="48463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5120640" cy="4480560"/>
          </a:xfrm>
          <a:prstGeom prst="rect">
            <a:avLst/>
          </a:prstGeom>
          <a:noFill/>
        </p:spPr>
        <p:txBody>
          <a:bodyPr wrap="square">
            <a:spAutoFit/>
          </a:bodyPr>
          <a:lstStyle/>
          <a:p>
            <a:pPr>
              <a:defRPr sz="1300" b="1">
                <a:solidFill>
                  <a:srgbClr val="38BDF8"/>
                </a:solidFill>
              </a:defRPr>
            </a:pPr>
            <a:r>
              <a:t>• The Proposed Idea:</a:t>
            </a:r>
          </a:p>
          <a:p>
            <a:pPr>
              <a:spcAft>
                <a:spcPts val="1400"/>
              </a:spcAft>
              <a:defRPr sz="1100">
                <a:solidFill>
                  <a:srgbClr val="FFFFFF"/>
                </a:solidFill>
              </a:defRPr>
            </a:pPr>
            <a:r>
              <a:t>Build a lightweight, offline desktop scanner in pure C to detect fake phishing emails without requiring heavy cloud AI models or external Python libraries.</a:t>
            </a:r>
          </a:p>
          <a:p>
            <a:pPr>
              <a:defRPr sz="1300" b="1">
                <a:solidFill>
                  <a:srgbClr val="38BDF8"/>
                </a:solidFill>
              </a:defRPr>
            </a:pPr>
            <a:r>
              <a:t>• The Problem Addressed:</a:t>
            </a:r>
          </a:p>
          <a:p>
            <a:pPr>
              <a:spcAft>
                <a:spcPts val="1400"/>
              </a:spcAft>
              <a:defRPr sz="1100">
                <a:solidFill>
                  <a:srgbClr val="FFFFFF"/>
                </a:solidFill>
              </a:defRPr>
            </a:pPr>
            <a:r>
              <a:t>Attackers deceive students and non-technical users using lookalike domains (paypa1), artificial urgency (account suspended), and raw IP links (192.168.x.x).</a:t>
            </a:r>
          </a:p>
          <a:p>
            <a:pPr>
              <a:defRPr sz="1300" b="1">
                <a:solidFill>
                  <a:srgbClr val="38BDF8"/>
                </a:solidFill>
              </a:defRPr>
            </a:pPr>
            <a:r>
              <a:t>• The Expected Outcome:</a:t>
            </a:r>
          </a:p>
          <a:p>
            <a:pPr>
              <a:spcAft>
                <a:spcPts val="1400"/>
              </a:spcAft>
              <a:defRPr sz="1100">
                <a:solidFill>
                  <a:srgbClr val="FFFFFF"/>
                </a:solidFill>
              </a:defRPr>
            </a:pPr>
            <a:r>
              <a:t>An automated scanner that calculates an accurate Risk Score (0–100), outputs immediate verdicts (SAFE or CRITICAL), and guides users with prevention advice.</a:t>
            </a:r>
          </a:p>
        </p:txBody>
      </p:sp>
      <p:sp>
        <p:nvSpPr>
          <p:cNvPr id="7" name="Rounded Rectangle 6"/>
          <p:cNvSpPr/>
          <p:nvPr/>
        </p:nvSpPr>
        <p:spPr>
          <a:xfrm>
            <a:off x="6492240" y="1280160"/>
            <a:ext cx="4937760" cy="484632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hishing_flow.png"/>
          <p:cNvPicPr>
            <a:picLocks noChangeAspect="1"/>
          </p:cNvPicPr>
          <p:nvPr/>
        </p:nvPicPr>
        <p:blipFill>
          <a:blip r:embed="rId2"/>
          <a:stretch>
            <a:fillRect/>
          </a:stretch>
        </p:blipFill>
        <p:spPr>
          <a:xfrm>
            <a:off x="6675120" y="2103120"/>
            <a:ext cx="4572000" cy="2011680"/>
          </a:xfrm>
          <a:prstGeom prst="rect">
            <a:avLst/>
          </a:prstGeom>
        </p:spPr>
      </p:pic>
      <p:sp>
        <p:nvSpPr>
          <p:cNvPr id="9" name="TextBox 8"/>
          <p:cNvSpPr txBox="1"/>
          <p:nvPr/>
        </p:nvSpPr>
        <p:spPr>
          <a:xfrm>
            <a:off x="6675120" y="4389120"/>
            <a:ext cx="4572000" cy="1280160"/>
          </a:xfrm>
          <a:prstGeom prst="rect">
            <a:avLst/>
          </a:prstGeom>
          <a:noFill/>
        </p:spPr>
        <p:txBody>
          <a:bodyPr wrap="square">
            <a:spAutoFit/>
          </a:bodyPr>
          <a:lstStyle/>
          <a:p>
            <a:pPr algn="ctr">
              <a:defRPr sz="1100" b="1">
                <a:solidFill>
                  <a:srgbClr val="38BDF8"/>
                </a:solidFill>
              </a:defRPr>
            </a:pPr>
            <a:r>
              <a:t>Figure 1: High-Level Workflow</a:t>
            </a:r>
          </a:p>
          <a:p>
            <a:pPr algn="ctr">
              <a:defRPr sz="950">
                <a:solidFill>
                  <a:srgbClr val="94A3B8"/>
                </a:solidFill>
              </a:defRPr>
            </a:pPr>
            <a:r>
              <a:t>Attacker sends fake email -&gt; PhishGuard inspects 4 security layers in C -&gt; Alerts user before data theft occurs.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777240"/>
          </a:xfrm>
          <a:prstGeom prst="rect">
            <a:avLst/>
          </a:prstGeom>
          <a:noFill/>
        </p:spPr>
        <p:txBody>
          <a:bodyPr wrap="square">
            <a:spAutoFit/>
          </a:bodyPr>
          <a:lstStyle/>
          <a:p>
            <a:pPr>
              <a:defRPr sz="1000" b="1">
                <a:solidFill>
                  <a:srgbClr val="38BDF8"/>
                </a:solidFill>
              </a:defRPr>
            </a:pPr>
            <a:r>
              <a:t>CYBER SECURITY TECHNICAL CLUB SEMINAR</a:t>
            </a:r>
          </a:p>
          <a:p>
            <a:pPr>
              <a:defRPr sz="2000" b="1">
                <a:solidFill>
                  <a:srgbClr val="FFFFFF"/>
                </a:solidFill>
              </a:defRPr>
            </a:pPr>
            <a:r>
              <a:t>3. Problem Statement - Why This Project Matters</a:t>
            </a:r>
          </a:p>
        </p:txBody>
      </p:sp>
      <p:sp>
        <p:nvSpPr>
          <p:cNvPr id="4" name="TextBox 3"/>
          <p:cNvSpPr txBox="1"/>
          <p:nvPr/>
        </p:nvSpPr>
        <p:spPr>
          <a:xfrm>
            <a:off x="731520" y="6446520"/>
            <a:ext cx="10698480" cy="320040"/>
          </a:xfrm>
          <a:prstGeom prst="rect">
            <a:avLst/>
          </a:prstGeom>
          <a:noFill/>
        </p:spPr>
        <p:txBody>
          <a:bodyPr wrap="none">
            <a:spAutoFit/>
          </a:bodyPr>
          <a:lstStyle/>
          <a:p>
            <a:pPr>
              <a:defRPr sz="950">
                <a:solidFill>
                  <a:srgbClr val="94A3B8"/>
                </a:solidFill>
              </a:defRPr>
            </a:pPr>
            <a:r>
              <a:t>PhishGuard: Fake Email Detection Tool  |  Team: APEX CIPHER  |  1st Year B.Tech CSE</a:t>
            </a:r>
          </a:p>
        </p:txBody>
      </p:sp>
      <p:sp>
        <p:nvSpPr>
          <p:cNvPr id="5" name="Rounded Rectangle 4"/>
          <p:cNvSpPr/>
          <p:nvPr/>
        </p:nvSpPr>
        <p:spPr>
          <a:xfrm>
            <a:off x="731520" y="1371600"/>
            <a:ext cx="3383280" cy="475488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3108960" cy="4389120"/>
          </a:xfrm>
          <a:prstGeom prst="rect">
            <a:avLst/>
          </a:prstGeom>
          <a:noFill/>
        </p:spPr>
        <p:txBody>
          <a:bodyPr wrap="square">
            <a:spAutoFit/>
          </a:bodyPr>
          <a:lstStyle/>
          <a:p>
            <a:pPr>
              <a:spcAft>
                <a:spcPts val="1200"/>
              </a:spcAft>
              <a:defRPr sz="1200" b="1">
                <a:solidFill>
                  <a:srgbClr val="EF4444"/>
                </a:solidFill>
              </a:defRPr>
            </a:pPr>
            <a:r>
              <a:t>WHAT PROBLEM ARE WE SOLVING?</a:t>
            </a:r>
          </a:p>
          <a:p>
            <a:pPr>
              <a:spcAft>
                <a:spcPts val="600"/>
              </a:spcAft>
              <a:defRPr sz="1000">
                <a:solidFill>
                  <a:srgbClr val="FFFFFF"/>
                </a:solidFill>
              </a:defRPr>
            </a:pPr>
            <a:r>
              <a:t>Cyber criminals use social engineering and visual deception to fake emails. Instead of breaking passwords through software bugs, they trick users into willingly handing over bank passwords, OTPs, and credit cards.</a:t>
            </a:r>
          </a:p>
        </p:txBody>
      </p:sp>
      <p:sp>
        <p:nvSpPr>
          <p:cNvPr id="7" name="Rounded Rectangle 6"/>
          <p:cNvSpPr/>
          <p:nvPr/>
        </p:nvSpPr>
        <p:spPr>
          <a:xfrm>
            <a:off x="4389120" y="1371600"/>
            <a:ext cx="3383280" cy="47548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554480"/>
            <a:ext cx="3108960" cy="4389120"/>
          </a:xfrm>
          <a:prstGeom prst="rect">
            <a:avLst/>
          </a:prstGeom>
          <a:noFill/>
        </p:spPr>
        <p:txBody>
          <a:bodyPr wrap="square">
            <a:spAutoFit/>
          </a:bodyPr>
          <a:lstStyle/>
          <a:p>
            <a:pPr>
              <a:spcAft>
                <a:spcPts val="1200"/>
              </a:spcAft>
              <a:defRPr sz="1200" b="1">
                <a:solidFill>
                  <a:srgbClr val="38BDF8"/>
                </a:solidFill>
              </a:defRPr>
            </a:pPr>
            <a:r>
              <a:t>WHO FACES THIS PROBLEM?</a:t>
            </a:r>
          </a:p>
          <a:p>
            <a:pPr>
              <a:spcAft>
                <a:spcPts val="600"/>
              </a:spcAft>
              <a:defRPr sz="1000">
                <a:solidFill>
                  <a:srgbClr val="FFFFFF"/>
                </a:solidFill>
              </a:defRPr>
            </a:pPr>
            <a:r>
              <a:t>1. College Students: Targeted with fake scholarship grants, exam fee notices, and student loan baits.</a:t>
            </a:r>
          </a:p>
          <a:p>
            <a:pPr>
              <a:spcAft>
                <a:spcPts val="600"/>
              </a:spcAft>
              <a:defRPr sz="1000">
                <a:solidFill>
                  <a:srgbClr val="FFFFFF"/>
                </a:solidFill>
              </a:defRPr>
            </a:pPr>
            <a:r>
              <a:t>2. Non-Technical Users: Unable to notice lookalike spellings like 'paypa1.com'.</a:t>
            </a:r>
          </a:p>
          <a:p>
            <a:pPr>
              <a:spcAft>
                <a:spcPts val="600"/>
              </a:spcAft>
              <a:defRPr sz="1000">
                <a:solidFill>
                  <a:srgbClr val="FFFFFF"/>
                </a:solidFill>
              </a:defRPr>
            </a:pPr>
            <a:r>
              <a:t>3. Educational Labs: Lack enterprise cybersecurity firewalls.</a:t>
            </a:r>
          </a:p>
        </p:txBody>
      </p:sp>
      <p:sp>
        <p:nvSpPr>
          <p:cNvPr id="9" name="Rounded Rectangle 8"/>
          <p:cNvSpPr/>
          <p:nvPr/>
        </p:nvSpPr>
        <p:spPr>
          <a:xfrm>
            <a:off x="8046720" y="1371600"/>
            <a:ext cx="3383280" cy="4754880"/>
          </a:xfrm>
          <a:prstGeom prst="round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554480"/>
            <a:ext cx="3108960" cy="4389120"/>
          </a:xfrm>
          <a:prstGeom prst="rect">
            <a:avLst/>
          </a:prstGeom>
          <a:noFill/>
        </p:spPr>
        <p:txBody>
          <a:bodyPr wrap="square">
            <a:spAutoFit/>
          </a:bodyPr>
          <a:lstStyle/>
          <a:p>
            <a:pPr>
              <a:spcAft>
                <a:spcPts val="1200"/>
              </a:spcAft>
              <a:defRPr sz="1200" b="1">
                <a:solidFill>
                  <a:srgbClr val="22C55E"/>
                </a:solidFill>
              </a:defRPr>
            </a:pPr>
            <a:r>
              <a:t>WHY DOES IT MATTER?</a:t>
            </a:r>
          </a:p>
          <a:p>
            <a:pPr>
              <a:spcAft>
                <a:spcPts val="600"/>
              </a:spcAft>
              <a:defRPr sz="1000">
                <a:solidFill>
                  <a:srgbClr val="FFFFFF"/>
                </a:solidFill>
              </a:defRPr>
            </a:pPr>
            <a:r>
              <a:t>• Financial Loss: Bank accounts drained within minutes.</a:t>
            </a:r>
          </a:p>
          <a:p>
            <a:pPr>
              <a:spcAft>
                <a:spcPts val="600"/>
              </a:spcAft>
              <a:defRPr sz="1000">
                <a:solidFill>
                  <a:srgbClr val="FFFFFF"/>
                </a:solidFill>
              </a:defRPr>
            </a:pPr>
            <a:r>
              <a:t>• Credential Theft: University portal &amp; email hijack.</a:t>
            </a:r>
          </a:p>
          <a:p>
            <a:pPr>
              <a:spcAft>
                <a:spcPts val="600"/>
              </a:spcAft>
              <a:defRPr sz="1000">
                <a:solidFill>
                  <a:srgbClr val="FFFFFF"/>
                </a:solidFill>
              </a:defRPr>
            </a:pPr>
            <a:r>
              <a:t>• Need for Awareness: A transparent, beginner-friendly tool teaches students how phishing works internally.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777240"/>
          </a:xfrm>
          <a:prstGeom prst="rect">
            <a:avLst/>
          </a:prstGeom>
          <a:noFill/>
        </p:spPr>
        <p:txBody>
          <a:bodyPr wrap="square">
            <a:spAutoFit/>
          </a:bodyPr>
          <a:lstStyle/>
          <a:p>
            <a:pPr>
              <a:defRPr sz="1000" b="1">
                <a:solidFill>
                  <a:srgbClr val="38BDF8"/>
                </a:solidFill>
              </a:defRPr>
            </a:pPr>
            <a:r>
              <a:t>CYBER SECURITY TECHNICAL CLUB SEMINAR</a:t>
            </a:r>
          </a:p>
          <a:p>
            <a:pPr>
              <a:defRPr sz="2000" b="1">
                <a:solidFill>
                  <a:srgbClr val="FFFFFF"/>
                </a:solidFill>
              </a:defRPr>
            </a:pPr>
            <a:r>
              <a:t>4. Related Work / Literature Survey (5 to 6 Papers Analyzed)</a:t>
            </a:r>
          </a:p>
        </p:txBody>
      </p:sp>
      <p:sp>
        <p:nvSpPr>
          <p:cNvPr id="4" name="TextBox 3"/>
          <p:cNvSpPr txBox="1"/>
          <p:nvPr/>
        </p:nvSpPr>
        <p:spPr>
          <a:xfrm>
            <a:off x="731520" y="6446520"/>
            <a:ext cx="10698480" cy="320040"/>
          </a:xfrm>
          <a:prstGeom prst="rect">
            <a:avLst/>
          </a:prstGeom>
          <a:noFill/>
        </p:spPr>
        <p:txBody>
          <a:bodyPr wrap="none">
            <a:spAutoFit/>
          </a:bodyPr>
          <a:lstStyle/>
          <a:p>
            <a:pPr>
              <a:defRPr sz="950">
                <a:solidFill>
                  <a:srgbClr val="94A3B8"/>
                </a:solidFill>
              </a:defRPr>
            </a:pPr>
            <a:r>
              <a:t>PhishGuard: Fake Email Detection Tool  |  Team: APEX CIPHER  |  1st Year B.Tech CSE</a:t>
            </a:r>
          </a:p>
        </p:txBody>
      </p:sp>
      <p:sp>
        <p:nvSpPr>
          <p:cNvPr id="5" name="Rounded Rectangle 4"/>
          <p:cNvSpPr/>
          <p:nvPr/>
        </p:nvSpPr>
        <p:spPr>
          <a:xfrm>
            <a:off x="731520" y="1280160"/>
            <a:ext cx="5120640" cy="15087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71600"/>
            <a:ext cx="4846320" cy="1325880"/>
          </a:xfrm>
          <a:prstGeom prst="rect">
            <a:avLst/>
          </a:prstGeom>
          <a:noFill/>
        </p:spPr>
        <p:txBody>
          <a:bodyPr wrap="square">
            <a:spAutoFit/>
          </a:bodyPr>
          <a:lstStyle/>
          <a:p>
            <a:pPr>
              <a:defRPr sz="1050" b="1">
                <a:solidFill>
                  <a:srgbClr val="38BDF8"/>
                </a:solidFill>
              </a:defRPr>
            </a:pPr>
            <a:r>
              <a:t>Paper 1: Bergholz et al. (2010)</a:t>
            </a:r>
          </a:p>
          <a:p>
            <a:pPr>
              <a:defRPr sz="950">
                <a:solidFill>
                  <a:srgbClr val="FFFFFF"/>
                </a:solidFill>
              </a:defRPr>
            </a:pPr>
            <a:r>
              <a:t>• Solution: Model-Based NLP &amp; Markov Chains</a:t>
            </a:r>
          </a:p>
          <a:p>
            <a:pPr>
              <a:defRPr sz="950">
                <a:solidFill>
                  <a:srgbClr val="FCA5A5"/>
                </a:solidFill>
              </a:defRPr>
            </a:pPr>
            <a:r>
              <a:t>• Limitation: High processing overhead; fails on short or image-only phishing emails.</a:t>
            </a:r>
          </a:p>
        </p:txBody>
      </p:sp>
      <p:sp>
        <p:nvSpPr>
          <p:cNvPr id="7" name="Rounded Rectangle 6"/>
          <p:cNvSpPr/>
          <p:nvPr/>
        </p:nvSpPr>
        <p:spPr>
          <a:xfrm>
            <a:off x="6126480" y="1280160"/>
            <a:ext cx="5120640" cy="15087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1371600"/>
            <a:ext cx="4846320" cy="1325880"/>
          </a:xfrm>
          <a:prstGeom prst="rect">
            <a:avLst/>
          </a:prstGeom>
          <a:noFill/>
        </p:spPr>
        <p:txBody>
          <a:bodyPr wrap="square">
            <a:spAutoFit/>
          </a:bodyPr>
          <a:lstStyle/>
          <a:p>
            <a:pPr>
              <a:defRPr sz="1050" b="1">
                <a:solidFill>
                  <a:srgbClr val="38BDF8"/>
                </a:solidFill>
              </a:defRPr>
            </a:pPr>
            <a:r>
              <a:t>Paper 2: Basnet et al. (2012)</a:t>
            </a:r>
          </a:p>
          <a:p>
            <a:pPr>
              <a:defRPr sz="950">
                <a:solidFill>
                  <a:srgbClr val="FFFFFF"/>
                </a:solidFill>
              </a:defRPr>
            </a:pPr>
            <a:r>
              <a:t>• Solution: Machine Learning (SVM, Naive Bayes)</a:t>
            </a:r>
          </a:p>
          <a:p>
            <a:pPr>
              <a:defRPr sz="950">
                <a:solidFill>
                  <a:srgbClr val="FCA5A5"/>
                </a:solidFill>
              </a:defRPr>
            </a:pPr>
            <a:r>
              <a:t>• Limitation: Complex black-box models; vulnerable to adversarial evasion.</a:t>
            </a:r>
          </a:p>
        </p:txBody>
      </p:sp>
      <p:sp>
        <p:nvSpPr>
          <p:cNvPr id="9" name="Rounded Rectangle 8"/>
          <p:cNvSpPr/>
          <p:nvPr/>
        </p:nvSpPr>
        <p:spPr>
          <a:xfrm>
            <a:off x="731520" y="2926080"/>
            <a:ext cx="5120640" cy="15087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017520"/>
            <a:ext cx="4846320" cy="1325880"/>
          </a:xfrm>
          <a:prstGeom prst="rect">
            <a:avLst/>
          </a:prstGeom>
          <a:noFill/>
        </p:spPr>
        <p:txBody>
          <a:bodyPr wrap="square">
            <a:spAutoFit/>
          </a:bodyPr>
          <a:lstStyle/>
          <a:p>
            <a:pPr>
              <a:defRPr sz="1050" b="1">
                <a:solidFill>
                  <a:srgbClr val="38BDF8"/>
                </a:solidFill>
              </a:defRPr>
            </a:pPr>
            <a:r>
              <a:t>Paper 3: Sheng et al. (2009)</a:t>
            </a:r>
          </a:p>
          <a:p>
            <a:pPr>
              <a:defRPr sz="950">
                <a:solidFill>
                  <a:srgbClr val="FFFFFF"/>
                </a:solidFill>
              </a:defRPr>
            </a:pPr>
            <a:r>
              <a:t>• Solution: URL Blacklists (PhishTank, Google)</a:t>
            </a:r>
          </a:p>
          <a:p>
            <a:pPr>
              <a:defRPr sz="950">
                <a:solidFill>
                  <a:srgbClr val="FCA5A5"/>
                </a:solidFill>
              </a:defRPr>
            </a:pPr>
            <a:r>
              <a:t>• Limitation: Cannot stop zero-hour (freshly created) domains (4-12 hr delay).</a:t>
            </a:r>
          </a:p>
        </p:txBody>
      </p:sp>
      <p:sp>
        <p:nvSpPr>
          <p:cNvPr id="11" name="Rounded Rectangle 10"/>
          <p:cNvSpPr/>
          <p:nvPr/>
        </p:nvSpPr>
        <p:spPr>
          <a:xfrm>
            <a:off x="6126480" y="2926080"/>
            <a:ext cx="5120640" cy="15087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3017520"/>
            <a:ext cx="4846320" cy="1325880"/>
          </a:xfrm>
          <a:prstGeom prst="rect">
            <a:avLst/>
          </a:prstGeom>
          <a:noFill/>
        </p:spPr>
        <p:txBody>
          <a:bodyPr wrap="square">
            <a:spAutoFit/>
          </a:bodyPr>
          <a:lstStyle/>
          <a:p>
            <a:pPr>
              <a:defRPr sz="1050" b="1">
                <a:solidFill>
                  <a:srgbClr val="38BDF8"/>
                </a:solidFill>
              </a:defRPr>
            </a:pPr>
            <a:r>
              <a:t>Paper 4: Almomani et al. (2013)</a:t>
            </a:r>
          </a:p>
          <a:p>
            <a:pPr>
              <a:defRPr sz="950">
                <a:solidFill>
                  <a:srgbClr val="FFFFFF"/>
                </a:solidFill>
              </a:defRPr>
            </a:pPr>
            <a:r>
              <a:t>• Solution: Email Filtering Survey (SPF/DKIM)</a:t>
            </a:r>
          </a:p>
          <a:p>
            <a:pPr>
              <a:defRPr sz="950">
                <a:solidFill>
                  <a:srgbClr val="FCA5A5"/>
                </a:solidFill>
              </a:defRPr>
            </a:pPr>
            <a:r>
              <a:t>• Limitation: Spoofed display names routinely bypass basic SPF/DKIM filters.</a:t>
            </a:r>
          </a:p>
        </p:txBody>
      </p:sp>
      <p:sp>
        <p:nvSpPr>
          <p:cNvPr id="13" name="Rounded Rectangle 12"/>
          <p:cNvSpPr/>
          <p:nvPr/>
        </p:nvSpPr>
        <p:spPr>
          <a:xfrm>
            <a:off x="731520" y="4572000"/>
            <a:ext cx="5120640" cy="150876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663440"/>
            <a:ext cx="4846320" cy="1325880"/>
          </a:xfrm>
          <a:prstGeom prst="rect">
            <a:avLst/>
          </a:prstGeom>
          <a:noFill/>
        </p:spPr>
        <p:txBody>
          <a:bodyPr wrap="square">
            <a:spAutoFit/>
          </a:bodyPr>
          <a:lstStyle/>
          <a:p>
            <a:pPr>
              <a:defRPr sz="1050" b="1">
                <a:solidFill>
                  <a:srgbClr val="22C55E"/>
                </a:solidFill>
              </a:defRPr>
            </a:pPr>
            <a:r>
              <a:t>Paper 5: Fette et al. (2007) [BASE]</a:t>
            </a:r>
          </a:p>
          <a:p>
            <a:pPr>
              <a:defRPr sz="950">
                <a:solidFill>
                  <a:srgbClr val="FFFFFF"/>
                </a:solidFill>
              </a:defRPr>
            </a:pPr>
            <a:r>
              <a:t>• Solution: PILFER Structural Feature Extractor</a:t>
            </a:r>
          </a:p>
          <a:p>
            <a:pPr>
              <a:defRPr sz="950">
                <a:solidFill>
                  <a:srgbClr val="FCA5A5"/>
                </a:solidFill>
              </a:defRPr>
            </a:pPr>
            <a:r>
              <a:t>• Limitation: High false positive rate on legitimate newsletters with many links.</a:t>
            </a:r>
          </a:p>
        </p:txBody>
      </p:sp>
      <p:sp>
        <p:nvSpPr>
          <p:cNvPr id="15" name="Rounded Rectangle 14"/>
          <p:cNvSpPr/>
          <p:nvPr/>
        </p:nvSpPr>
        <p:spPr>
          <a:xfrm>
            <a:off x="6126480" y="4572000"/>
            <a:ext cx="5120640" cy="15087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4663440"/>
            <a:ext cx="4846320" cy="1325880"/>
          </a:xfrm>
          <a:prstGeom prst="rect">
            <a:avLst/>
          </a:prstGeom>
          <a:noFill/>
        </p:spPr>
        <p:txBody>
          <a:bodyPr wrap="square">
            <a:spAutoFit/>
          </a:bodyPr>
          <a:lstStyle/>
          <a:p>
            <a:pPr>
              <a:defRPr sz="1050" b="1">
                <a:solidFill>
                  <a:srgbClr val="38BDF8"/>
                </a:solidFill>
              </a:defRPr>
            </a:pPr>
            <a:r>
              <a:t>Paper 6: Marchal et al. (2016)</a:t>
            </a:r>
          </a:p>
          <a:p>
            <a:pPr>
              <a:defRPr sz="950">
                <a:solidFill>
                  <a:srgbClr val="FFFFFF"/>
                </a:solidFill>
              </a:defRPr>
            </a:pPr>
            <a:r>
              <a:t>• Solution: Lexical Brand Target Matching</a:t>
            </a:r>
          </a:p>
          <a:p>
            <a:pPr>
              <a:defRPr sz="950">
                <a:solidFill>
                  <a:srgbClr val="FCA5A5"/>
                </a:solidFill>
              </a:defRPr>
            </a:pPr>
            <a:r>
              <a:t>• Limitation: Requires heavy browser extensions and external database queries.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777240"/>
          </a:xfrm>
          <a:prstGeom prst="rect">
            <a:avLst/>
          </a:prstGeom>
          <a:noFill/>
        </p:spPr>
        <p:txBody>
          <a:bodyPr wrap="square">
            <a:spAutoFit/>
          </a:bodyPr>
          <a:lstStyle/>
          <a:p>
            <a:pPr>
              <a:defRPr sz="1000" b="1">
                <a:solidFill>
                  <a:srgbClr val="38BDF8"/>
                </a:solidFill>
              </a:defRPr>
            </a:pPr>
            <a:r>
              <a:t>CYBER SECURITY TECHNICAL CLUB SEMINAR</a:t>
            </a:r>
          </a:p>
          <a:p>
            <a:pPr>
              <a:defRPr sz="2000" b="1">
                <a:solidFill>
                  <a:srgbClr val="FFFFFF"/>
                </a:solidFill>
              </a:defRPr>
            </a:pPr>
            <a:r>
              <a:t>Visual Anatomy of a Phishing Email (What Our Code Inspects)</a:t>
            </a:r>
          </a:p>
        </p:txBody>
      </p:sp>
      <p:sp>
        <p:nvSpPr>
          <p:cNvPr id="4" name="TextBox 3"/>
          <p:cNvSpPr txBox="1"/>
          <p:nvPr/>
        </p:nvSpPr>
        <p:spPr>
          <a:xfrm>
            <a:off x="731520" y="6446520"/>
            <a:ext cx="10698480" cy="320040"/>
          </a:xfrm>
          <a:prstGeom prst="rect">
            <a:avLst/>
          </a:prstGeom>
          <a:noFill/>
        </p:spPr>
        <p:txBody>
          <a:bodyPr wrap="none">
            <a:spAutoFit/>
          </a:bodyPr>
          <a:lstStyle/>
          <a:p>
            <a:pPr>
              <a:defRPr sz="950">
                <a:solidFill>
                  <a:srgbClr val="94A3B8"/>
                </a:solidFill>
              </a:defRPr>
            </a:pPr>
            <a:r>
              <a:t>PhishGuard: Fake Email Detection Tool  |  Team: APEX CIPHER  |  1st Year B.Tech CSE</a:t>
            </a:r>
          </a:p>
        </p:txBody>
      </p:sp>
      <p:pic>
        <p:nvPicPr>
          <p:cNvPr id="5" name="Picture 4" descr="email_breakdown.png"/>
          <p:cNvPicPr>
            <a:picLocks noChangeAspect="1"/>
          </p:cNvPicPr>
          <p:nvPr/>
        </p:nvPicPr>
        <p:blipFill>
          <a:blip r:embed="rId2"/>
          <a:stretch>
            <a:fillRect/>
          </a:stretch>
        </p:blipFill>
        <p:spPr>
          <a:xfrm>
            <a:off x="731520" y="1371600"/>
            <a:ext cx="6858000" cy="3931920"/>
          </a:xfrm>
          <a:prstGeom prst="rect">
            <a:avLst/>
          </a:prstGeom>
        </p:spPr>
      </p:pic>
      <p:sp>
        <p:nvSpPr>
          <p:cNvPr id="6" name="Rounded Rectangle 5"/>
          <p:cNvSpPr/>
          <p:nvPr/>
        </p:nvSpPr>
        <p:spPr>
          <a:xfrm>
            <a:off x="7863840" y="1371600"/>
            <a:ext cx="3566160" cy="47548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0" y="1554480"/>
            <a:ext cx="3200400" cy="4389120"/>
          </a:xfrm>
          <a:prstGeom prst="rect">
            <a:avLst/>
          </a:prstGeom>
          <a:noFill/>
        </p:spPr>
        <p:txBody>
          <a:bodyPr wrap="square">
            <a:spAutoFit/>
          </a:bodyPr>
          <a:lstStyle/>
          <a:p>
            <a:pPr>
              <a:spcAft>
                <a:spcPts val="1000"/>
              </a:spcAft>
              <a:defRPr sz="1200" b="1">
                <a:solidFill>
                  <a:srgbClr val="38BDF8"/>
                </a:solidFill>
              </a:defRPr>
            </a:pPr>
            <a:r>
              <a:t>THE 4 CORE CHECKS:</a:t>
            </a:r>
          </a:p>
          <a:p>
            <a:pPr>
              <a:defRPr sz="1000" b="1">
                <a:solidFill>
                  <a:srgbClr val="FFFFFF"/>
                </a:solidFill>
              </a:defRPr>
            </a:pPr>
            <a:r>
              <a:t>• Check 1: Lookalike Sender:</a:t>
            </a:r>
          </a:p>
          <a:p>
            <a:pPr>
              <a:spcAft>
                <a:spcPts val="600"/>
              </a:spcAft>
              <a:defRPr sz="900">
                <a:solidFill>
                  <a:srgbClr val="94A3B8"/>
                </a:solidFill>
              </a:defRPr>
            </a:pPr>
            <a:r>
              <a:t>paypa1.com replaces letter 'l' with digit '1'. Our code flags this immediately (+35 pts).</a:t>
            </a:r>
          </a:p>
          <a:p>
            <a:pPr>
              <a:defRPr sz="1000" b="1">
                <a:solidFill>
                  <a:srgbClr val="FFFFFF"/>
                </a:solidFill>
              </a:defRPr>
            </a:pPr>
            <a:r>
              <a:t>• Check 2: Panic Words:</a:t>
            </a:r>
          </a:p>
          <a:p>
            <a:pPr>
              <a:spcAft>
                <a:spcPts val="600"/>
              </a:spcAft>
              <a:defRPr sz="900">
                <a:solidFill>
                  <a:srgbClr val="94A3B8"/>
                </a:solidFill>
              </a:defRPr>
            </a:pPr>
            <a:r>
              <a:t>'URGENT' or 'Account Suspended' forces hasty actions (+25 pts).</a:t>
            </a:r>
          </a:p>
          <a:p>
            <a:pPr>
              <a:defRPr sz="1000" b="1">
                <a:solidFill>
                  <a:srgbClr val="FFFFFF"/>
                </a:solidFill>
              </a:defRPr>
            </a:pPr>
            <a:r>
              <a:t>• Check 3: Raw IP Link:</a:t>
            </a:r>
          </a:p>
          <a:p>
            <a:pPr>
              <a:spcAft>
                <a:spcPts val="600"/>
              </a:spcAft>
              <a:defRPr sz="900">
                <a:solidFill>
                  <a:srgbClr val="94A3B8"/>
                </a:solidFill>
              </a:defRPr>
            </a:pPr>
            <a:r>
              <a:t>Links like '192.168.1.50' instead of real domains are major red flags (+25 pts).</a:t>
            </a:r>
          </a:p>
          <a:p>
            <a:pPr>
              <a:defRPr sz="1000" b="1">
                <a:solidFill>
                  <a:srgbClr val="FFFFFF"/>
                </a:solidFill>
              </a:defRPr>
            </a:pPr>
            <a:r>
              <a:t>• Check 4: Data Demand:</a:t>
            </a:r>
          </a:p>
          <a:p>
            <a:pPr>
              <a:spcAft>
                <a:spcPts val="600"/>
              </a:spcAft>
              <a:defRPr sz="900">
                <a:solidFill>
                  <a:srgbClr val="94A3B8"/>
                </a:solidFill>
              </a:defRPr>
            </a:pPr>
            <a:r>
              <a:t>Asking for Passwords, Credit Cards, or OTPs is a guaranteed scam (+30 pts).</a:t>
            </a:r>
          </a:p>
        </p:txBody>
      </p:sp>
      <p:pic>
        <p:nvPicPr>
          <p:cNvPr id="8" name="Picture 7" descr="score_meter.png"/>
          <p:cNvPicPr>
            <a:picLocks noChangeAspect="1"/>
          </p:cNvPicPr>
          <p:nvPr/>
        </p:nvPicPr>
        <p:blipFill>
          <a:blip r:embed="rId3"/>
          <a:stretch>
            <a:fillRect/>
          </a:stretch>
        </p:blipFill>
        <p:spPr>
          <a:xfrm>
            <a:off x="731520" y="5394960"/>
            <a:ext cx="6858000" cy="10058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777240"/>
          </a:xfrm>
          <a:prstGeom prst="rect">
            <a:avLst/>
          </a:prstGeom>
          <a:noFill/>
        </p:spPr>
        <p:txBody>
          <a:bodyPr wrap="square">
            <a:spAutoFit/>
          </a:bodyPr>
          <a:lstStyle/>
          <a:p>
            <a:pPr>
              <a:defRPr sz="1000" b="1">
                <a:solidFill>
                  <a:srgbClr val="38BDF8"/>
                </a:solidFill>
              </a:defRPr>
            </a:pPr>
            <a:r>
              <a:t>CYBER SECURITY TECHNICAL CLUB SEMINAR</a:t>
            </a:r>
          </a:p>
          <a:p>
            <a:pPr>
              <a:defRPr sz="2000" b="1">
                <a:solidFill>
                  <a:srgbClr val="FFFFFF"/>
                </a:solidFill>
              </a:defRPr>
            </a:pPr>
            <a:r>
              <a:t>5. Proposed Work (Base Paper &amp; C Implementation)</a:t>
            </a:r>
          </a:p>
        </p:txBody>
      </p:sp>
      <p:sp>
        <p:nvSpPr>
          <p:cNvPr id="4" name="TextBox 3"/>
          <p:cNvSpPr txBox="1"/>
          <p:nvPr/>
        </p:nvSpPr>
        <p:spPr>
          <a:xfrm>
            <a:off x="731520" y="6446520"/>
            <a:ext cx="10698480" cy="320040"/>
          </a:xfrm>
          <a:prstGeom prst="rect">
            <a:avLst/>
          </a:prstGeom>
          <a:noFill/>
        </p:spPr>
        <p:txBody>
          <a:bodyPr wrap="none">
            <a:spAutoFit/>
          </a:bodyPr>
          <a:lstStyle/>
          <a:p>
            <a:pPr>
              <a:defRPr sz="950">
                <a:solidFill>
                  <a:srgbClr val="94A3B8"/>
                </a:solidFill>
              </a:defRPr>
            </a:pPr>
            <a:r>
              <a:t>PhishGuard: Fake Email Detection Tool  |  Team: APEX CIPHER  |  1st Year B.Tech CSE</a:t>
            </a:r>
          </a:p>
        </p:txBody>
      </p:sp>
      <p:sp>
        <p:nvSpPr>
          <p:cNvPr id="5" name="Rounded Rectangle 4"/>
          <p:cNvSpPr/>
          <p:nvPr/>
        </p:nvSpPr>
        <p:spPr>
          <a:xfrm>
            <a:off x="731520" y="1280160"/>
            <a:ext cx="5029200" cy="484632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4663440" cy="4480560"/>
          </a:xfrm>
          <a:prstGeom prst="rect">
            <a:avLst/>
          </a:prstGeom>
          <a:noFill/>
        </p:spPr>
        <p:txBody>
          <a:bodyPr wrap="square">
            <a:spAutoFit/>
          </a:bodyPr>
          <a:lstStyle/>
          <a:p>
            <a:pPr>
              <a:spcAft>
                <a:spcPts val="400"/>
              </a:spcAft>
              <a:defRPr sz="1200" b="1">
                <a:solidFill>
                  <a:srgbClr val="38BDF8"/>
                </a:solidFill>
              </a:defRPr>
            </a:pPr>
            <a:r>
              <a:t>BASE PAPER IDENTIFICATION:</a:t>
            </a:r>
          </a:p>
          <a:p>
            <a:pPr>
              <a:spcAft>
                <a:spcPts val="800"/>
              </a:spcAft>
              <a:defRPr sz="1050" b="1">
                <a:solidFill>
                  <a:srgbClr val="FFFFFF"/>
                </a:solidFill>
              </a:defRPr>
            </a:pPr>
            <a:r>
              <a:t>Fette et al. (2007) - 'Learning to Detect Phishing Emails' (PILFER)</a:t>
            </a:r>
            <a:br/>
            <a:r>
              <a:t>IEEE / ACM Conference on World Wide Web.</a:t>
            </a:r>
          </a:p>
          <a:p>
            <a:pPr>
              <a:spcAft>
                <a:spcPts val="400"/>
              </a:spcAft>
              <a:defRPr sz="1100" b="1">
                <a:solidFill>
                  <a:srgbClr val="38BDF8"/>
                </a:solidFill>
              </a:defRPr>
            </a:pPr>
            <a:r>
              <a:t>HOW WE ADAPTED IT FOR 1ST YEAR STUDENTS:</a:t>
            </a:r>
          </a:p>
          <a:p>
            <a:pPr>
              <a:spcAft>
                <a:spcPts val="400"/>
              </a:spcAft>
              <a:defRPr sz="950">
                <a:solidFill>
                  <a:srgbClr val="94A3B8"/>
                </a:solidFill>
              </a:defRPr>
            </a:pPr>
            <a:r>
              <a:t>1. Converted heavy ML features into 4 direct, explainable if-else checks.</a:t>
            </a:r>
          </a:p>
          <a:p>
            <a:pPr>
              <a:spcAft>
                <a:spcPts val="400"/>
              </a:spcAft>
              <a:defRPr sz="950">
                <a:solidFill>
                  <a:srgbClr val="94A3B8"/>
                </a:solidFill>
              </a:defRPr>
            </a:pPr>
            <a:r>
              <a:t>2. Uses standard C library functions: stdio.h, string.h (strstr), ctype.h (tolower).</a:t>
            </a:r>
          </a:p>
          <a:p>
            <a:pPr>
              <a:spcAft>
                <a:spcPts val="400"/>
              </a:spcAft>
              <a:defRPr sz="950">
                <a:solidFill>
                  <a:srgbClr val="94A3B8"/>
                </a:solidFill>
              </a:defRPr>
            </a:pPr>
            <a:r>
              <a:t>3. Zero external dependencies - runs on any C compiler (GCC, Clang, VS Code).</a:t>
            </a:r>
          </a:p>
          <a:p>
            <a:pPr>
              <a:spcAft>
                <a:spcPts val="400"/>
              </a:spcAft>
              <a:defRPr sz="950">
                <a:solidFill>
                  <a:srgbClr val="94A3B8"/>
                </a:solidFill>
              </a:defRPr>
            </a:pPr>
            <a:r>
              <a:t>4. Transparent Threat Score (0 to 100) with clear Safe / Danger recommendations.</a:t>
            </a:r>
          </a:p>
        </p:txBody>
      </p:sp>
      <p:sp>
        <p:nvSpPr>
          <p:cNvPr id="7" name="Rounded Rectangle 6"/>
          <p:cNvSpPr/>
          <p:nvPr/>
        </p:nvSpPr>
        <p:spPr>
          <a:xfrm>
            <a:off x="6035040" y="1280160"/>
            <a:ext cx="5394960" cy="4846320"/>
          </a:xfrm>
          <a:prstGeom prst="roundRect">
            <a:avLst/>
          </a:prstGeom>
          <a:solidFill>
            <a:srgbClr val="0A0F1E"/>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0" y="1371600"/>
            <a:ext cx="5120640" cy="4663440"/>
          </a:xfrm>
          <a:prstGeom prst="rect">
            <a:avLst/>
          </a:prstGeom>
          <a:noFill/>
        </p:spPr>
        <p:txBody>
          <a:bodyPr wrap="square">
            <a:spAutoFit/>
          </a:bodyPr>
          <a:lstStyle/>
          <a:p>
            <a:pPr>
              <a:defRPr sz="850">
                <a:solidFill>
                  <a:srgbClr val="38BDF8"/>
                </a:solidFill>
                <a:latin typeface="Consolas"/>
              </a:defRPr>
            </a:pPr>
            <a:r>
              <a:t>// simple_phishguard.c (Student C Code)</a:t>
            </a:r>
          </a:p>
          <a:p>
            <a:pPr>
              <a:defRPr sz="850">
                <a:solidFill>
                  <a:srgbClr val="FFFFFF"/>
                </a:solidFill>
                <a:latin typeface="Consolas"/>
              </a:defRPr>
            </a:pPr>
            <a:r>
              <a:t>#include &lt;stdio.h&gt;</a:t>
            </a:r>
          </a:p>
          <a:p>
            <a:pPr>
              <a:defRPr sz="850">
                <a:solidFill>
                  <a:srgbClr val="FFFFFF"/>
                </a:solidFill>
                <a:latin typeface="Consolas"/>
              </a:defRPr>
            </a:pPr>
            <a:r>
              <a:t>#include &lt;string.h&gt;</a:t>
            </a:r>
          </a:p>
          <a:p>
            <a:pPr>
              <a:defRPr sz="850">
                <a:solidFill>
                  <a:srgbClr val="FFFFFF"/>
                </a:solidFill>
                <a:latin typeface="Consolas"/>
              </a:defRPr>
            </a:pPr>
          </a:p>
          <a:p>
            <a:pPr>
              <a:defRPr sz="850">
                <a:solidFill>
                  <a:srgbClr val="FFFFFF"/>
                </a:solidFill>
                <a:latin typeface="Consolas"/>
              </a:defRPr>
            </a:pPr>
            <a:r>
              <a:t>int main() {</a:t>
            </a:r>
          </a:p>
          <a:p>
            <a:pPr>
              <a:defRPr sz="850">
                <a:solidFill>
                  <a:srgbClr val="FFFFFF"/>
                </a:solidFill>
                <a:latin typeface="Consolas"/>
              </a:defRPr>
            </a:pPr>
            <a:r>
              <a:t>    char sender[100], subject[150], body[500];</a:t>
            </a:r>
          </a:p>
          <a:p>
            <a:pPr>
              <a:defRPr sz="850">
                <a:solidFill>
                  <a:srgbClr val="FFFFFF"/>
                </a:solidFill>
                <a:latin typeface="Consolas"/>
              </a:defRPr>
            </a:pPr>
            <a:r>
              <a:t>    int score = 0;</a:t>
            </a:r>
          </a:p>
          <a:p>
            <a:pPr>
              <a:defRPr sz="850">
                <a:solidFill>
                  <a:srgbClr val="FFFFFF"/>
                </a:solidFill>
                <a:latin typeface="Consolas"/>
              </a:defRPr>
            </a:pPr>
          </a:p>
          <a:p>
            <a:pPr>
              <a:defRPr sz="850">
                <a:solidFill>
                  <a:srgbClr val="FFFFFF"/>
                </a:solidFill>
                <a:latin typeface="Consolas"/>
              </a:defRPr>
            </a:pPr>
            <a:r>
              <a:t>    // 1. Take User Input</a:t>
            </a:r>
          </a:p>
          <a:p>
            <a:pPr>
              <a:defRPr sz="850">
                <a:solidFill>
                  <a:srgbClr val="FFFFFF"/>
                </a:solidFill>
                <a:latin typeface="Consolas"/>
              </a:defRPr>
            </a:pPr>
            <a:r>
              <a:t>    printf("Enter Sender: ");</a:t>
            </a:r>
          </a:p>
          <a:p>
            <a:pPr>
              <a:defRPr sz="850">
                <a:solidFill>
                  <a:srgbClr val="FFFFFF"/>
                </a:solidFill>
                <a:latin typeface="Consolas"/>
              </a:defRPr>
            </a:pPr>
            <a:r>
              <a:t>    fgets(sender, sizeof(sender), stdin);</a:t>
            </a:r>
          </a:p>
          <a:p>
            <a:pPr>
              <a:defRPr sz="850">
                <a:solidFill>
                  <a:srgbClr val="FFFFFF"/>
                </a:solidFill>
                <a:latin typeface="Consolas"/>
              </a:defRPr>
            </a:pPr>
          </a:p>
          <a:p>
            <a:pPr>
              <a:defRPr sz="850">
                <a:solidFill>
                  <a:srgbClr val="FFFFFF"/>
                </a:solidFill>
                <a:latin typeface="Consolas"/>
              </a:defRPr>
            </a:pPr>
            <a:r>
              <a:t>    // 2. CHECK 1: Fake Sender (paypa1, .xyz)</a:t>
            </a:r>
          </a:p>
          <a:p>
            <a:pPr>
              <a:defRPr sz="850">
                <a:solidFill>
                  <a:srgbClr val="FFFFFF"/>
                </a:solidFill>
                <a:latin typeface="Consolas"/>
              </a:defRPr>
            </a:pPr>
            <a:r>
              <a:t>    if (strstr(sender, "paypa1") != NULL) score += 35;</a:t>
            </a:r>
          </a:p>
          <a:p>
            <a:pPr>
              <a:defRPr sz="850">
                <a:solidFill>
                  <a:srgbClr val="FFFFFF"/>
                </a:solidFill>
                <a:latin typeface="Consolas"/>
              </a:defRPr>
            </a:pPr>
          </a:p>
          <a:p>
            <a:pPr>
              <a:defRPr sz="850">
                <a:solidFill>
                  <a:srgbClr val="FFFFFF"/>
                </a:solidFill>
                <a:latin typeface="Consolas"/>
              </a:defRPr>
            </a:pPr>
            <a:r>
              <a:t>    // 3. CHECK 2: Urgent Subject (urgent, blocked)</a:t>
            </a:r>
          </a:p>
          <a:p>
            <a:pPr>
              <a:defRPr sz="850">
                <a:solidFill>
                  <a:srgbClr val="FFFFFF"/>
                </a:solidFill>
                <a:latin typeface="Consolas"/>
              </a:defRPr>
            </a:pPr>
            <a:r>
              <a:t>    if (strstr(subject, "urgent") != NULL) score += 25;</a:t>
            </a:r>
          </a:p>
          <a:p>
            <a:pPr>
              <a:defRPr sz="850">
                <a:solidFill>
                  <a:srgbClr val="FFFFFF"/>
                </a:solidFill>
                <a:latin typeface="Consolas"/>
              </a:defRPr>
            </a:pPr>
          </a:p>
          <a:p>
            <a:pPr>
              <a:defRPr sz="850">
                <a:solidFill>
                  <a:srgbClr val="FFFFFF"/>
                </a:solidFill>
                <a:latin typeface="Consolas"/>
              </a:defRPr>
            </a:pPr>
            <a:r>
              <a:t>    // 4. CHECK 3: Raw IP Link (http://192.)</a:t>
            </a:r>
          </a:p>
          <a:p>
            <a:pPr>
              <a:defRPr sz="850">
                <a:solidFill>
                  <a:srgbClr val="FFFFFF"/>
                </a:solidFill>
                <a:latin typeface="Consolas"/>
              </a:defRPr>
            </a:pPr>
            <a:r>
              <a:t>    if (strstr(body, "http://192.") != NULL) score += 25;</a:t>
            </a:r>
          </a:p>
          <a:p>
            <a:pPr>
              <a:defRPr sz="850">
                <a:solidFill>
                  <a:srgbClr val="FFFFFF"/>
                </a:solidFill>
                <a:latin typeface="Consolas"/>
              </a:defRPr>
            </a:pPr>
          </a:p>
          <a:p>
            <a:pPr>
              <a:defRPr sz="850">
                <a:solidFill>
                  <a:srgbClr val="FFFFFF"/>
                </a:solidFill>
                <a:latin typeface="Consolas"/>
              </a:defRPr>
            </a:pPr>
            <a:r>
              <a:t>    // 5. CHECK 4: Credential Demand (password, card)</a:t>
            </a:r>
          </a:p>
          <a:p>
            <a:pPr>
              <a:defRPr sz="850">
                <a:solidFill>
                  <a:srgbClr val="FFFFFF"/>
                </a:solidFill>
                <a:latin typeface="Consolas"/>
              </a:defRPr>
            </a:pPr>
            <a:r>
              <a:t>    if (strstr(body, "password") != NULL) score += 30;</a:t>
            </a:r>
          </a:p>
          <a:p>
            <a:pPr>
              <a:defRPr sz="850">
                <a:solidFill>
                  <a:srgbClr val="FFFFFF"/>
                </a:solidFill>
                <a:latin typeface="Consolas"/>
              </a:defRPr>
            </a:pPr>
          </a:p>
          <a:p>
            <a:pPr>
              <a:defRPr sz="850">
                <a:solidFill>
                  <a:srgbClr val="FFFFFF"/>
                </a:solidFill>
                <a:latin typeface="Consolas"/>
              </a:defRPr>
            </a:pPr>
            <a:r>
              <a:t>    // 6. Final Result</a:t>
            </a:r>
          </a:p>
          <a:p>
            <a:pPr>
              <a:defRPr sz="850">
                <a:solidFill>
                  <a:srgbClr val="FFFFFF"/>
                </a:solidFill>
                <a:latin typeface="Consolas"/>
              </a:defRPr>
            </a:pPr>
            <a:r>
              <a:t>    if (score &gt;= 50) printf("CRITICAL PHISHING!");</a:t>
            </a:r>
          </a:p>
          <a:p>
            <a:pPr>
              <a:defRPr sz="850">
                <a:solidFill>
                  <a:srgbClr val="FFFFFF"/>
                </a:solidFill>
                <a:latin typeface="Consolas"/>
              </a:defRPr>
            </a:pPr>
            <a:r>
              <a:t>    else printf("SAFE EMAIL");</a:t>
            </a:r>
          </a:p>
          <a:p>
            <a:pPr>
              <a:defRPr sz="850">
                <a:solidFill>
                  <a:srgbClr val="FFFFFF"/>
                </a:solidFill>
                <a:latin typeface="Consolas"/>
              </a:defRPr>
            </a:pPr>
            <a:r>
              <a:t>    return 0;</a:t>
            </a:r>
          </a:p>
          <a:p>
            <a:pPr>
              <a:defRPr sz="850">
                <a:solidFill>
                  <a:srgbClr val="FFFFFF"/>
                </a:solidFill>
                <a:latin typeface="Consolas"/>
              </a:defRPr>
            </a:pPr>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777240"/>
          </a:xfrm>
          <a:prstGeom prst="rect">
            <a:avLst/>
          </a:prstGeom>
          <a:noFill/>
        </p:spPr>
        <p:txBody>
          <a:bodyPr wrap="square">
            <a:spAutoFit/>
          </a:bodyPr>
          <a:lstStyle/>
          <a:p>
            <a:pPr>
              <a:defRPr sz="1000" b="1">
                <a:solidFill>
                  <a:srgbClr val="38BDF8"/>
                </a:solidFill>
              </a:defRPr>
            </a:pPr>
            <a:r>
              <a:t>CYBER SECURITY TECHNICAL CLUB SEMINAR</a:t>
            </a:r>
          </a:p>
          <a:p>
            <a:pPr>
              <a:defRPr sz="2000" b="1">
                <a:solidFill>
                  <a:srgbClr val="FFFFFF"/>
                </a:solidFill>
              </a:defRPr>
            </a:pPr>
            <a:r>
              <a:t>6. References (Academic Papers &amp; Standards)</a:t>
            </a:r>
          </a:p>
        </p:txBody>
      </p:sp>
      <p:sp>
        <p:nvSpPr>
          <p:cNvPr id="4" name="TextBox 3"/>
          <p:cNvSpPr txBox="1"/>
          <p:nvPr/>
        </p:nvSpPr>
        <p:spPr>
          <a:xfrm>
            <a:off x="731520" y="6446520"/>
            <a:ext cx="10698480" cy="320040"/>
          </a:xfrm>
          <a:prstGeom prst="rect">
            <a:avLst/>
          </a:prstGeom>
          <a:noFill/>
        </p:spPr>
        <p:txBody>
          <a:bodyPr wrap="none">
            <a:spAutoFit/>
          </a:bodyPr>
          <a:lstStyle/>
          <a:p>
            <a:pPr>
              <a:defRPr sz="950">
                <a:solidFill>
                  <a:srgbClr val="94A3B8"/>
                </a:solidFill>
              </a:defRPr>
            </a:pPr>
            <a:r>
              <a:t>PhishGuard: Fake Email Detection Tool  |  Team: APEX CIPHER  |  1st Year B.Tech CSE</a:t>
            </a:r>
          </a:p>
        </p:txBody>
      </p:sp>
      <p:sp>
        <p:nvSpPr>
          <p:cNvPr id="5" name="Rounded Rectangle 4"/>
          <p:cNvSpPr/>
          <p:nvPr/>
        </p:nvSpPr>
        <p:spPr>
          <a:xfrm>
            <a:off x="731520" y="1280160"/>
            <a:ext cx="10728655" cy="484632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63040"/>
            <a:ext cx="10149840" cy="4480560"/>
          </a:xfrm>
          <a:prstGeom prst="rect">
            <a:avLst/>
          </a:prstGeom>
          <a:noFill/>
        </p:spPr>
        <p:txBody>
          <a:bodyPr wrap="square">
            <a:spAutoFit/>
          </a:bodyPr>
          <a:lstStyle/>
          <a:p>
            <a:pPr>
              <a:defRPr sz="1000" b="1">
                <a:solidFill>
                  <a:srgbClr val="38BDF8"/>
                </a:solidFill>
              </a:defRPr>
            </a:pPr>
            <a:r>
              <a:t>[1] BASE PAPER: I. Fette, N. Sadeh, and A. Tomasic</a:t>
            </a:r>
          </a:p>
          <a:p>
            <a:pPr>
              <a:spcAft>
                <a:spcPts val="500"/>
              </a:spcAft>
              <a:defRPr sz="900">
                <a:solidFill>
                  <a:srgbClr val="94A3B8"/>
                </a:solidFill>
              </a:defRPr>
            </a:pPr>
            <a:r>
              <a:t>"Learning to Detect Phishing Emails," Proceedings of the 16th International World Wide Web Conference (WWW '07), Banff, Alberta, Canada, pp. 649-656, 2007.</a:t>
            </a:r>
          </a:p>
          <a:p>
            <a:pPr>
              <a:defRPr sz="1000" b="1">
                <a:solidFill>
                  <a:srgbClr val="FFFFFF"/>
                </a:solidFill>
              </a:defRPr>
            </a:pPr>
            <a:r>
              <a:t>[2] S. Marchal, J. Francois, R. State, and T. Engel</a:t>
            </a:r>
          </a:p>
          <a:p>
            <a:pPr>
              <a:spcAft>
                <a:spcPts val="500"/>
              </a:spcAft>
              <a:defRPr sz="900">
                <a:solidFill>
                  <a:srgbClr val="94A3B8"/>
                </a:solidFill>
              </a:defRPr>
            </a:pPr>
            <a:r>
              <a:t>"Know Your Phish: Novel Content-Based Phishing Detection of Crafty Phishing Webpages," IEEE Transactions on Computers, vol. 65, no. 8, pp. 2401-2414, 2016.</a:t>
            </a:r>
          </a:p>
          <a:p>
            <a:pPr>
              <a:defRPr sz="1000" b="1">
                <a:solidFill>
                  <a:srgbClr val="FFFFFF"/>
                </a:solidFill>
              </a:defRPr>
            </a:pPr>
            <a:r>
              <a:t>[3] A. Almomani, B. B. Gupta, S. Atawneh, A. Meulenberg, and E. Almomani</a:t>
            </a:r>
          </a:p>
          <a:p>
            <a:pPr>
              <a:spcAft>
                <a:spcPts val="500"/>
              </a:spcAft>
              <a:defRPr sz="900">
                <a:solidFill>
                  <a:srgbClr val="94A3B8"/>
                </a:solidFill>
              </a:defRPr>
            </a:pPr>
            <a:r>
              <a:t>"A Survey of Phishing Email Filtering Techniques," IEEE Communications Surveys &amp; Tutorials, vol. 15, no. 4, pp. 2070-2090, 2013.</a:t>
            </a:r>
          </a:p>
          <a:p>
            <a:pPr>
              <a:defRPr sz="1000" b="1">
                <a:solidFill>
                  <a:srgbClr val="FFFFFF"/>
                </a:solidFill>
              </a:defRPr>
            </a:pPr>
            <a:r>
              <a:t>[4] R. Basnet, S. Mukkamala, and A. H. Sung</a:t>
            </a:r>
          </a:p>
          <a:p>
            <a:pPr>
              <a:spcAft>
                <a:spcPts val="500"/>
              </a:spcAft>
              <a:defRPr sz="900">
                <a:solidFill>
                  <a:srgbClr val="94A3B8"/>
                </a:solidFill>
              </a:defRPr>
            </a:pPr>
            <a:r>
              <a:t>"Detection of Phishing Attacks: A Machine Learning Approach," Studies in Fuzziness and Soft Computing, Springer Berlin Heidelberg, pp. 373-383, 2012.</a:t>
            </a:r>
          </a:p>
          <a:p>
            <a:pPr>
              <a:defRPr sz="1000" b="1">
                <a:solidFill>
                  <a:srgbClr val="FFFFFF"/>
                </a:solidFill>
              </a:defRPr>
            </a:pPr>
            <a:r>
              <a:t>[5] S. Sheng, B. Wardman, G. Warner, L. Cranor, J. Hong, and C. Zhang</a:t>
            </a:r>
          </a:p>
          <a:p>
            <a:pPr>
              <a:spcAft>
                <a:spcPts val="500"/>
              </a:spcAft>
              <a:defRPr sz="900">
                <a:solidFill>
                  <a:srgbClr val="94A3B8"/>
                </a:solidFill>
              </a:defRPr>
            </a:pPr>
            <a:r>
              <a:t>"An Empirical Analysis of Phishing Blacklists," 6th Conference on Email and Anti-Spam (CEAS '09), Mountain View, CA, 2009.</a:t>
            </a:r>
          </a:p>
          <a:p>
            <a:pPr>
              <a:defRPr sz="1000" b="1">
                <a:solidFill>
                  <a:srgbClr val="FFFFFF"/>
                </a:solidFill>
              </a:defRPr>
            </a:pPr>
            <a:r>
              <a:t>[6] E. Bergholz, J. Chang-Paauwe, F. Coatrieux, et al.</a:t>
            </a:r>
          </a:p>
          <a:p>
            <a:pPr>
              <a:spcAft>
                <a:spcPts val="500"/>
              </a:spcAft>
              <a:defRPr sz="900">
                <a:solidFill>
                  <a:srgbClr val="94A3B8"/>
                </a:solidFill>
              </a:defRPr>
            </a:pPr>
            <a:r>
              <a:t>"Improved Phishing Detection using Model-Based Features and Classifiers," Cyberpsychology &amp; Behavior, vol. 13, no. 2, pp. 135-142, 2010.</a:t>
            </a:r>
          </a:p>
          <a:p>
            <a:pPr>
              <a:defRPr sz="1000" b="1">
                <a:solidFill>
                  <a:srgbClr val="FFFFFF"/>
                </a:solidFill>
              </a:defRPr>
            </a:pPr>
            <a:r>
              <a:t>[7] C Programming Documentation</a:t>
            </a:r>
          </a:p>
          <a:p>
            <a:pPr>
              <a:spcAft>
                <a:spcPts val="500"/>
              </a:spcAft>
              <a:defRPr sz="900">
                <a:solidFill>
                  <a:srgbClr val="94A3B8"/>
                </a:solidFill>
              </a:defRPr>
            </a:pPr>
            <a:r>
              <a:t>ISO/IEC 9899:1999 (C99 Standard Specification), ANSI C Standard Library (stdio.h, string.h, ctype.h).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